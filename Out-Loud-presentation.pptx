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2212848"/>
            <a:ext cx="105156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40AF"/>
                </a:solidFill>
                <a:latin typeface="Helvetica Neue"/>
              </a:rPr>
              <a:t>ASSEMBLYAI VOICE AGENT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0" b="1">
                <a:solidFill>
                  <a:srgbClr val="141414"/>
                </a:solidFill>
                <a:latin typeface="Helvetica Neue"/>
              </a:rPr>
              <a:t>Out 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41414"/>
                </a:solidFill>
                <a:latin typeface="Helvetica Neue"/>
              </a:rPr>
              <a:t>Courseware you operate by voice.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C5C"/>
                </a:solidFill>
                <a:latin typeface="Helvetica Neue"/>
              </a:rPr>
              <a:t>Team Out Loud   ·   Solo entry   ·   Built on the AssemblyAI Voice Agent API</a:t>
            </a:r>
          </a:p>
          <a:p>
            <a:pPr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300" b="1">
                <a:solidFill>
                  <a:srgbClr val="1E40AF"/>
                </a:solidFill>
                <a:latin typeface="Helvetica Neue"/>
              </a:rPr>
              <a:t>out-loud-voice-tutor-x18c.vercel.app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686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280">
                <a:solidFill>
                  <a:srgbClr val="1E40AF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52728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1414"/>
                </a:solidFill>
                <a:latin typeface="Helvetica Neue"/>
              </a:rPr>
              <a:t>Everyone clicks through
mandatory training.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69494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41414"/>
                </a:solidFill>
                <a:latin typeface="Helvetica Neue"/>
              </a:rPr>
              <a:t>Next. Next. Next. Submit. The completion certificate proves attendance, not learning — and everybody involved knows it.</a:t>
            </a:r>
          </a:p>
          <a:p>
            <a:pPr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</a:pPr>
            <a:r>
              <a:rPr sz="1700" b="0">
                <a:solidFill>
                  <a:srgbClr val="5C5C5C"/>
                </a:solidFill>
                <a:latin typeface="Helvetica Neue"/>
              </a:rPr>
              <a:t>Voice tutors that already exist turn your material into something that talks about it. A podcast of a course is still not the course.</a:t>
            </a:r>
          </a:p>
          <a:p>
            <a:pPr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</a:pPr>
            <a:r>
              <a:rPr sz="1700" b="0">
                <a:solidFill>
                  <a:srgbClr val="5C5C5C"/>
                </a:solidFill>
                <a:latin typeface="Helvetica Neue"/>
              </a:rPr>
              <a:t>Nothing so far makes the learner do anything.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2331720"/>
            <a:ext cx="3200400" cy="2834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22208" y="2697479"/>
            <a:ext cx="243230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1414"/>
                </a:solidFill>
                <a:latin typeface="Helvetica Neue"/>
              </a:rPr>
              <a:t>What actually changes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The learner has to produce the answer,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out loud, before anything moves.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/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Speaking is the input device —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not a narration layer on top of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9963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Helvetica Neue"/>
              </a:rPr>
              <a:t>Out Loud   ·   AssemblyAI Voice Agent Hackathon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686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280">
                <a:solidFill>
                  <a:srgbClr val="1E40AF"/>
                </a:solidFill>
                <a:latin typeface="Helvetica Neue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52728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1414"/>
                </a:solidFill>
                <a:latin typeface="Helvetica Neue"/>
              </a:rPr>
              <a:t>You take the course by talking to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10058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41414"/>
                </a:solidFill>
                <a:latin typeface="Helvetica Neue"/>
              </a:rPr>
              <a:t>Ada reads you a real workplace situation — a graduate chosen to lead longer-serving colleagues, a role described as better suited to someone younger.</a:t>
            </a:r>
          </a:p>
          <a:p>
            <a:pPr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</a:pPr>
            <a:r>
              <a:rPr sz="1700" b="0">
                <a:solidFill>
                  <a:srgbClr val="5C5C5C"/>
                </a:solidFill>
                <a:latin typeface="Helvetica Neue"/>
              </a:rPr>
              <a:t>You answer out loud. She puts your answer into the screen for you: files the card, moves the character, selects the option.</a:t>
            </a:r>
          </a:p>
          <a:p>
            <a:pPr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</a:pPr>
            <a:r>
              <a:rPr sz="1700" b="0">
                <a:solidFill>
                  <a:srgbClr val="5C5C5C"/>
                </a:solidFill>
                <a:latin typeface="Helvetica Neue"/>
              </a:rPr>
              <a:t>Fourteen screens, three parts, one continuous conversation.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9963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Helvetica Neue"/>
              </a:rPr>
              <a:t>Out Loud   ·   AssemblyAI Voice Agent Hackathon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686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280">
                <a:solidFill>
                  <a:srgbClr val="1E40AF"/>
                </a:solidFill>
                <a:latin typeface="Helvetica Neue"/>
              </a:rPr>
              <a:t>THE RULE IT IS BUILT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52728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41414"/>
                </a:solidFill>
                <a:latin typeface="Helvetica Neue"/>
              </a:rPr>
              <a:t>Ada can answer for you.
She can never move you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1414"/>
                </a:solidFill>
                <a:latin typeface="Helvetica Neue"/>
              </a:rPr>
              <a:t>That is not a line in a prompt. It is enforced by the tool list: there is no tool that presses Submit, Continue or Next.</a:t>
            </a:r>
          </a:p>
          <a:p>
            <a:pPr algn="l">
              <a:lnSpc>
                <a:spcPct val="130000"/>
              </a:lnSpc>
              <a:spcBef>
                <a:spcPts val="1300"/>
              </a:spcBef>
              <a:spcAft>
                <a:spcPts val="0"/>
              </a:spcAft>
            </a:pPr>
            <a:r>
              <a:rPr sz="2000" b="1">
                <a:solidFill>
                  <a:srgbClr val="1E40AF"/>
                </a:solidFill>
                <a:latin typeface="Helvetica Neue"/>
              </a:rPr>
              <a:t>A prompt rule is a request. A missing tool is a guarantee.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492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It runs the other way too — a screen is read in full the first time before anyone goes anywhere. The course can never run ahead of the person taking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9963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Helvetica Neue"/>
              </a:rPr>
              <a:t>Out Loud   ·   AssemblyAI Voice Agent Hackathon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686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280">
                <a:solidFill>
                  <a:srgbClr val="1E40AF"/>
                </a:solidFill>
                <a:latin typeface="Helvetica Neue"/>
              </a:rPr>
              <a:t>WHAT MAKES IT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52728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1414"/>
                </a:solidFill>
                <a:latin typeface="Helvetica Neue"/>
              </a:rPr>
              <a:t>She operates live courseware.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C5C"/>
                </a:solidFill>
                <a:latin typeface="Helvetica Neue"/>
              </a:rPr>
              <a:t>By pressing the same controls a hand would press. The course does not know it is being driven by voice.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154680"/>
            <a:ext cx="3332378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3520440"/>
            <a:ext cx="256428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D4ED8"/>
                </a:solidFill>
                <a:latin typeface="Helvetica Neue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1414"/>
                </a:solidFill>
                <a:latin typeface="Helvetica Neue"/>
              </a:rPr>
              <a:t>Sorting board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“That one's a reasonable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adjustment.” The card files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itself into the column.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658" y="3154680"/>
            <a:ext cx="3332378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13706" y="3520440"/>
            <a:ext cx="256428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D4ED8"/>
                </a:solidFill>
                <a:latin typeface="Helvetica Neue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1414"/>
                </a:solidFill>
                <a:latin typeface="Helvetica Neue"/>
              </a:rPr>
              <a:t>Platformer game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Name the block and the pixel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character runs across the level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and lands on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0636" y="3154680"/>
            <a:ext cx="3332378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4684" y="3520440"/>
            <a:ext cx="256428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D4ED8"/>
                </a:solidFill>
                <a:latin typeface="Helvetica Neue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1414"/>
                </a:solidFill>
                <a:latin typeface="Helvetica Neue"/>
              </a:rPr>
              <a:t>Quiz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Say the answer. The real option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is selected, scored and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carried into your total.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19963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Helvetica Neue"/>
              </a:rPr>
              <a:t>Out Loud   ·   AssemblyAI Voice Agent Hackathon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686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280">
                <a:solidFill>
                  <a:srgbClr val="1E40AF"/>
                </a:solidFill>
                <a:latin typeface="Helvetica Neue"/>
              </a:rPr>
              <a:t>HOW IT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52728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1414"/>
                </a:solidFill>
                <a:latin typeface="Helvetica Neue"/>
              </a:rPr>
              <a:t>One socket. Eight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7040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41414"/>
                </a:solidFill>
                <a:latin typeface="Helvetica Neue"/>
              </a:rPr>
              <a:t>A single AssemblyAI Voice Agent API WebSocket does speech-to-text, reasoning and speech back — no stitched-together pipeline.</a:t>
            </a:r>
          </a:p>
          <a:p>
            <a:pPr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</a:pPr>
            <a:r>
              <a:rPr sz="1700" b="0">
                <a:solidFill>
                  <a:srgbClr val="5C5C5C"/>
                </a:solidFill>
                <a:latin typeface="Helvetica Neue"/>
              </a:rPr>
              <a:t>Eight JSON-schema tools give the agent eyes and hands on the page: read the screen, answer the activity, navigate where asked.</a:t>
            </a:r>
          </a:p>
          <a:p>
            <a:pPr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</a:pPr>
            <a:r>
              <a:rPr sz="1700" b="0">
                <a:solidFill>
                  <a:srgbClr val="5C5C5C"/>
                </a:solidFill>
                <a:latin typeface="Helvetica Neue"/>
              </a:rPr>
              <a:t>An Express backend mints short-lived, single-use tokens, so the API key never reaches the browser.</a:t>
            </a:r>
          </a:p>
          <a:p>
            <a:pPr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</a:pPr>
            <a:r>
              <a:rPr sz="1700" b="0">
                <a:solidFill>
                  <a:srgbClr val="5C5C5C"/>
                </a:solidFill>
                <a:latin typeface="Helvetica Neue"/>
              </a:rPr>
              <a:t>AudioWorklet streams 24 kHz PCM16 in both directions, with scheduled playback so speech stays continuous. Deployed on Vercel.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286000"/>
            <a:ext cx="3108960" cy="3108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13648" y="2651760"/>
            <a:ext cx="2340864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1414"/>
                </a:solidFill>
                <a:latin typeface="Helvetica Neue"/>
              </a:rPr>
              <a:t>Stack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AssemblyAI Voice Agent API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Node.js + Express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Vanilla JS, no framework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AudioWorklet / Web Audio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9963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Helvetica Neue"/>
              </a:rPr>
              <a:t>Out Loud   ·   AssemblyAI Voice Agent Hackathon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686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280">
                <a:solidFill>
                  <a:srgbClr val="1E40AF"/>
                </a:solidFill>
                <a:latin typeface="Helvetica Neue"/>
              </a:rPr>
              <a:t>THE LEARNING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52728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41414"/>
                </a:solidFill>
                <a:latin typeface="Helvetica Neue"/>
              </a:rPr>
              <a:t>Every part closes with
a named technique.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204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5C5C"/>
                </a:solidFill>
                <a:latin typeface="Helvetica Neue"/>
              </a:rPr>
              <a:t>Evidence-backed, and told to the learner by name so they can use it again tomorrow.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114800"/>
            <a:ext cx="3332378" cy="1691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4480560"/>
            <a:ext cx="256428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D4ED8"/>
                </a:solidFill>
                <a:latin typeface="Helvetica Neue"/>
              </a:rPr>
              <a:t>PART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1414"/>
                </a:solidFill>
                <a:latin typeface="Helvetica Neue"/>
              </a:rPr>
              <a:t>Elaborative interrogation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Why would that be true here?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658" y="4114800"/>
            <a:ext cx="3332378" cy="1691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13706" y="4480560"/>
            <a:ext cx="256428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D4ED8"/>
                </a:solidFill>
                <a:latin typeface="Helvetica Neue"/>
              </a:rPr>
              <a:t>PART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1414"/>
                </a:solidFill>
                <a:latin typeface="Helvetica Neue"/>
              </a:rPr>
              <a:t>Keyword mnemonic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One handle for the whole rule.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0636" y="4114800"/>
            <a:ext cx="3332378" cy="1691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4684" y="4480560"/>
            <a:ext cx="256428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D4ED8"/>
                </a:solidFill>
                <a:latin typeface="Helvetica Neue"/>
              </a:rPr>
              <a:t>PART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1414"/>
                </a:solidFill>
                <a:latin typeface="Helvetica Neue"/>
              </a:rPr>
              <a:t>Spaced retrieval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Pulled back out, later, cold.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19963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Helvetica Neue"/>
              </a:rPr>
              <a:t>Out Loud   ·   AssemblyAI Voice Agent Hackathon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686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280">
                <a:solidFill>
                  <a:srgbClr val="1E40AF"/>
                </a:solidFill>
                <a:latin typeface="Helvetica Neue"/>
              </a:rPr>
              <a:t>WHY THIS SHOULD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52728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41414"/>
                </a:solidFill>
                <a:latin typeface="Helvetica Neue"/>
              </a:rPr>
              <a:t>Intelligent tutoring is
already close to human tutoring.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41414"/>
                </a:solidFill>
                <a:latin typeface="Helvetica Neue"/>
              </a:rPr>
              <a:t>VanLehn (2011) puts step-based intelligent tutoring at d = 0.76 against d = 0.79 for human tutors — near-parity, at software cost.</a:t>
            </a:r>
          </a:p>
          <a:p>
            <a:pPr algn="l">
              <a:lnSpc>
                <a:spcPct val="132000"/>
              </a:lnSpc>
              <a:spcBef>
                <a:spcPts val="1300"/>
              </a:spcBef>
              <a:spcAft>
                <a:spcPts val="0"/>
              </a:spcAft>
            </a:pPr>
            <a:r>
              <a:rPr sz="1900" b="0">
                <a:solidFill>
                  <a:srgbClr val="141414"/>
                </a:solidFill>
                <a:latin typeface="Helvetica Neue"/>
              </a:rPr>
              <a:t>Out Loud takes the part that stayed stubbornly human — being made to say it, to someone, before you move — and gives it to the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9963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Helvetica Neue"/>
              </a:rPr>
              <a:t>Out Loud   ·   AssemblyAI Voice Agent Hackathon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686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280">
                <a:solidFill>
                  <a:srgbClr val="1E40AF"/>
                </a:solidFill>
                <a:latin typeface="Helvetica Neue"/>
              </a:rPr>
              <a:t>WHAT WAS BUILT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52728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1414"/>
                </a:solidFill>
                <a:latin typeface="Helvetica Neue"/>
              </a:rPr>
              <a:t>Declared up front.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697480"/>
            <a:ext cx="5044287" cy="2651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2728" y="3063240"/>
            <a:ext cx="4276191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D4ED8"/>
                </a:solidFill>
                <a:latin typeface="Helvetica Neue"/>
              </a:rPr>
              <a:t>BEFORE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1414"/>
                </a:solidFill>
                <a:latin typeface="Helvetica Neue"/>
              </a:rPr>
              <a:t>Prior work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The underlying 14-screen module —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its scenes, activities and visual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design — is my own, built before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the hackathon.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2697480"/>
            <a:ext cx="5044287" cy="2651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2775" y="3063240"/>
            <a:ext cx="4276191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D4ED8"/>
                </a:solidFill>
                <a:latin typeface="Helvetica Neue"/>
              </a:rPr>
              <a:t>DURING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41414"/>
                </a:solidFill>
                <a:latin typeface="Helvetica Neue"/>
              </a:rPr>
              <a:t>Built in the window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The agent, the eight tools, the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token server, the audio pipeline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and every spoken activity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Helvetica Neue"/>
              </a:rPr>
              <a:t>mechanic.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9963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Helvetica Neue"/>
              </a:rPr>
              <a:t>Out Loud   ·   AssemblyAI Voice Agent Hackathon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2286000"/>
            <a:ext cx="105156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40AF"/>
                </a:solidFill>
                <a:latin typeface="Helvetica Neue"/>
              </a:rPr>
              <a:t>TRY IT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141414"/>
                </a:solidFill>
                <a:latin typeface="Helvetica Neue"/>
              </a:rPr>
              <a:t>Out 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C5C"/>
                </a:solidFill>
                <a:latin typeface="Helvetica Neue"/>
              </a:rPr>
              <a:t>Live app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2100" b="1">
                <a:solidFill>
                  <a:srgbClr val="1E40AF"/>
                </a:solidFill>
                <a:latin typeface="Helvetica Neue"/>
              </a:rPr>
              <a:t>out-loud-voice-tutor-x18c.vercel.app</a:t>
            </a:r>
          </a:p>
          <a:p>
            <a:pPr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</a:pPr>
            <a:r>
              <a:rPr sz="1300" b="0">
                <a:solidFill>
                  <a:srgbClr val="5C5C5C"/>
                </a:solidFill>
                <a:latin typeface="Helvetica Neue"/>
              </a:rPr>
              <a:t>Code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2100" b="1">
                <a:solidFill>
                  <a:srgbClr val="1E40AF"/>
                </a:solidFill>
                <a:latin typeface="Helvetica Neue"/>
              </a:rPr>
              <a:t>github.com/KV2699/out-loud-voice-tutor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C5C"/>
                </a:solidFill>
                <a:latin typeface="Helvetica Neue"/>
              </a:rPr>
              <a:t>Built solo on the AssemblyAI Voice Agent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